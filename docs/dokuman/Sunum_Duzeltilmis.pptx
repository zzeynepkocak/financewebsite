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 KOÇAK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84124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FinansPortalı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84048" y="20299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Finans &amp;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Servis Platformu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2871216"/>
            <a:ext cx="1005840" cy="50292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29809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&amp; 32Bit  ·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3328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github.com/zzeynepkocak/FinanceWebSite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3291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Teknolojiler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86868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48656" y="822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944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48656" y="13487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/ Java 21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48656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Flyway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4602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4003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24 SSO + 2FA/TOTP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97180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48656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OpenSearch 2.11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9758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48656" y="34518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+ Prometheus + Grafana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023360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48656" y="3977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9 Servis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549140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48656" y="45034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State Machine (jBPM)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4846320" y="48463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Haziran 2026  ·  Staj Projesi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Kişisel Sayfa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5" name="Text 3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078992"/>
            <a:ext cx="1828800" cy="1828800"/>
          </a:xfrm>
          <a:prstGeom prst="ellipse">
            <a:avLst/>
          </a:prstGeom>
          <a:solidFill>
            <a:srgbClr val="EBF4F8"/>
          </a:solidFill>
          <a:ln w="38100">
            <a:solidFill>
              <a:srgbClr val="E874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16736"/>
            <a:ext cx="1207008" cy="12070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305409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Zeynep KOÇAK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" y="347472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Sistemleri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Mühendisliği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7472" y="398678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Sınıf  ·  2026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33472" y="1005840"/>
            <a:ext cx="3072384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33472" y="1005840"/>
            <a:ext cx="54864" cy="1243584"/>
          </a:xfrm>
          <a:prstGeom prst="rect">
            <a:avLst/>
          </a:prstGeom>
          <a:solidFill>
            <a:srgbClr val="E874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13385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82112" y="10972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Ortalaması (GANO)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761488" y="14264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 / 4.00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633472" y="2377440"/>
            <a:ext cx="3072384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633472" y="2377440"/>
            <a:ext cx="54864" cy="1243584"/>
          </a:xfrm>
          <a:prstGeom prst="rect">
            <a:avLst/>
          </a:prstGeom>
          <a:solidFill>
            <a:srgbClr val="1A547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250545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182112" y="24688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Yabancı Dil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761488" y="27980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 — B2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(Orta-İleri)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2633472" y="3749040"/>
            <a:ext cx="3072384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633472" y="3749040"/>
            <a:ext cx="54864" cy="1243584"/>
          </a:xfrm>
          <a:prstGeom prst="rect">
            <a:avLst/>
          </a:prstGeom>
          <a:solidFill>
            <a:srgbClr val="0E3D5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387705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182112" y="3840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Mesleki İlgi Alanları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2761488" y="41696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Cloud &amp; DevOps  ·  FinTech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888736" y="1005840"/>
            <a:ext cx="3072384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888736" y="1005840"/>
            <a:ext cx="54864" cy="1243584"/>
          </a:xfrm>
          <a:prstGeom prst="rect">
            <a:avLst/>
          </a:prstGeom>
          <a:solidFill>
            <a:srgbClr val="E8742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113385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37376" y="10972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Beceriler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016752" y="14264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· React · TypeScript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PostgreSQL · Git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5888736" y="2377440"/>
            <a:ext cx="3072384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888736" y="2377440"/>
            <a:ext cx="54864" cy="1243584"/>
          </a:xfrm>
          <a:prstGeom prst="rect">
            <a:avLst/>
          </a:prstGeom>
          <a:solidFill>
            <a:srgbClr val="1A547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250545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37376" y="24688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Kaçıncı Sınıf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016752" y="27980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Sınıf  (6. Dönem)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5888736" y="3749040"/>
            <a:ext cx="3072384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888736" y="3749040"/>
            <a:ext cx="54864" cy="1243584"/>
          </a:xfrm>
          <a:prstGeom prst="rect">
            <a:avLst/>
          </a:prstGeom>
          <a:solidFill>
            <a:srgbClr val="0E3D5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3877056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37376" y="3840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Kariyer Hedefi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6016752" y="41696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yazılım geliştirme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cloud-native sistemler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3" name="Text 1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7132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Projenin Amacı &amp;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Kullanılan Teknolojiler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(c)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02336" y="1444752"/>
            <a:ext cx="8339328" cy="749808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" y="1444752"/>
            <a:ext cx="50292" cy="749808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81328"/>
            <a:ext cx="7973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Finnhub API piyasa verileri, portföy &amp; varlık yönetimi, kredi takibi ve IT servis iş akışlarını — Keycloak SSO, 2FA/TOTP, Kafka log pipeline ve OpenTelemetry gözlemlenebilirliği ile — tek kurumsal platformda sunan, tüm gereksinimleri karşılamış full-stack web uygulaması.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23225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İstenen Teknolojiler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" y="26883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 + TypeScript (Frontend)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30815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 21  ·  Spring Boot 3.3.5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34747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Log4j2 — Console + File + KafkaAppender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38679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16 + Spring Data JPA + Hibernate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42611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Flyway Migrations V1 + V2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465429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+ Keycloak 24 SSO Authentication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50592" y="26883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2FA / TOTP (Google Authenticator uyumlu)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50592" y="30815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OpenTelemetry  ·  Grafana + Prometheus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50592" y="34747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OpenSearch 2.11 + Log Dashboards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50592" y="38679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Kafka → LogConsumer → OpenSearch pipeline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50592" y="42611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Compose (9 konteyner servisi)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50592" y="465429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State Machine 4.0 (jBPM ilhamlı)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53712" y="23225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Ekstra Kullandıklarım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53712" y="268833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Finnhub 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268833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hisse/döviz/kripto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53712" y="30815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3.8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36208" y="308152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grafikleri (Line, Pie, Bar)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53712" y="34747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keycloak-js 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34747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SSO adaptörü; token yenileme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53712" y="386791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Cache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38679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namespace, 5dk TTL, recordStats()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53712" y="426110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ApiResponse&lt;T&gt;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426110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@JsonInclude NON_NULL; factory metotlar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53712" y="46542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Frontend Modülü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46542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Kripto, GYO, AML, IPO, BES, DCA...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3" name="Text 1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Mimarisi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↔ Spring Boot ↔ PostgreSQL + Keycloak + Kafka + OpenTelemetry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" y="1060704"/>
            <a:ext cx="8375904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60704"/>
            <a:ext cx="59436" cy="585216"/>
          </a:xfrm>
          <a:prstGeom prst="rect">
            <a:avLst/>
          </a:prstGeom>
          <a:solidFill>
            <a:srgbClr val="E874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786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" y="1124712"/>
            <a:ext cx="7735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" y="1380744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5.4  ·  React Router v7  ·  50 Modül  ·  keycloak-js 26  ·  Recharts  ·  nginx:alpine  :3000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389120" y="1645920"/>
            <a:ext cx="3657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84048" y="1709928"/>
            <a:ext cx="8375904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4048" y="1709928"/>
            <a:ext cx="59436" cy="585216"/>
          </a:xfrm>
          <a:prstGeom prst="rect">
            <a:avLst/>
          </a:prstGeom>
          <a:solidFill>
            <a:srgbClr val="0E3D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708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0976" y="1773936"/>
            <a:ext cx="7735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/ Java 21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50976" y="2029968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/api/v1/  ·  Spring Security  ·  OpenAPI 3  ·  Actuator  ·  Log4j2  ·  Port: 8081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389120" y="2295144"/>
            <a:ext cx="3657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384048" y="2359152"/>
            <a:ext cx="8375904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4048" y="2359152"/>
            <a:ext cx="59436" cy="585216"/>
          </a:xfrm>
          <a:prstGeom prst="rect">
            <a:avLst/>
          </a:prstGeom>
          <a:solidFill>
            <a:srgbClr val="2A7A4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9631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50976" y="2423160"/>
            <a:ext cx="7735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Flyway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50976" y="2679192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  ·  V1_initial_schema + V2_it_tickets  ·  HikariCP  ·  H2 (local profil)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389120" y="2944368"/>
            <a:ext cx="3657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384048" y="3008376"/>
            <a:ext cx="8375904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84048" y="3008376"/>
            <a:ext cx="59436" cy="585216"/>
          </a:xfrm>
          <a:prstGeom prst="rect">
            <a:avLst/>
          </a:prstGeom>
          <a:solidFill>
            <a:srgbClr val="7B2D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4553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0976" y="3072384"/>
            <a:ext cx="7735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24 — OAuth2/OIDC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950976" y="3328416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  ·  realm: toyota-finance  ·  2FA/TOTP  ·  Port: 8080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4389120" y="3593592"/>
            <a:ext cx="3657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384048" y="3657600"/>
            <a:ext cx="8375904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84048" y="3657600"/>
            <a:ext cx="59436" cy="585216"/>
          </a:xfrm>
          <a:prstGeom prst="rect">
            <a:avLst/>
          </a:prstGeom>
          <a:solidFill>
            <a:srgbClr val="1A5470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94760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0976" y="3721608"/>
            <a:ext cx="7735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7.6 → LogConsumer → OpenSearch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950976" y="3977640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KafkaAppender  →  finance-logs topic  →  @KafkaListener  →  HTTP POST _doc  →  :9200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389120" y="4242816"/>
            <a:ext cx="3657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36" name="Shape 29"/>
          <p:cNvSpPr/>
          <p:nvPr/>
        </p:nvSpPr>
        <p:spPr>
          <a:xfrm>
            <a:off x="384048" y="4306824"/>
            <a:ext cx="8375904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84048" y="4306824"/>
            <a:ext cx="59436" cy="585216"/>
          </a:xfrm>
          <a:prstGeom prst="rect">
            <a:avLst/>
          </a:prstGeom>
          <a:solidFill>
            <a:srgbClr val="1C7A4A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443984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50976" y="4370832"/>
            <a:ext cx="7735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0.96 → Prometheus 2.51 → Grafana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950976" y="4626864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gRPC:4317  ·  /actuator/prometheus scrape  ·  Dashboard 4701 + 12685  ·  Port: 3001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3" name="Text 1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Gereksinim Karşılama — 27 / 27  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listesindeki tüm 27 madde eksiksiz tamamlandı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2416" y="1005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Frontend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4630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002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63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42416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19202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574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20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42416" y="1920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3774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5146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77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2416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28346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9718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42416" y="2834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32918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4290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91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42416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(JPA/Hibernate)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37490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8862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49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42416" y="3749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2062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3434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06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42416" y="4206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Keycloak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7472" y="46634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8006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663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42416" y="4663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/ TOTP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91840" y="10058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43" name="Shape 41"/>
          <p:cNvSpPr/>
          <p:nvPr/>
        </p:nvSpPr>
        <p:spPr>
          <a:xfrm>
            <a:off x="3401568" y="11430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44" name="Text 42"/>
          <p:cNvSpPr/>
          <p:nvPr/>
        </p:nvSpPr>
        <p:spPr>
          <a:xfrm>
            <a:off x="3584448" y="1005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86784" y="1005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91840" y="14630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47" name="Shape 45"/>
          <p:cNvSpPr/>
          <p:nvPr/>
        </p:nvSpPr>
        <p:spPr>
          <a:xfrm>
            <a:off x="3401568" y="16002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48" name="Text 46"/>
          <p:cNvSpPr/>
          <p:nvPr/>
        </p:nvSpPr>
        <p:spPr>
          <a:xfrm>
            <a:off x="3584448" y="1463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986784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Prometheus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91840" y="19202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51" name="Shape 49"/>
          <p:cNvSpPr/>
          <p:nvPr/>
        </p:nvSpPr>
        <p:spPr>
          <a:xfrm>
            <a:off x="3401568" y="20574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52" name="Text 50"/>
          <p:cNvSpPr/>
          <p:nvPr/>
        </p:nvSpPr>
        <p:spPr>
          <a:xfrm>
            <a:off x="3584448" y="1920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986784" y="1920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91840" y="23774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55" name="Shape 53"/>
          <p:cNvSpPr/>
          <p:nvPr/>
        </p:nvSpPr>
        <p:spPr>
          <a:xfrm>
            <a:off x="3401568" y="25146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56" name="Text 54"/>
          <p:cNvSpPr/>
          <p:nvPr/>
        </p:nvSpPr>
        <p:spPr>
          <a:xfrm>
            <a:off x="3584448" y="2377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986784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Log Pipeline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291840" y="28346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59" name="Shape 57"/>
          <p:cNvSpPr/>
          <p:nvPr/>
        </p:nvSpPr>
        <p:spPr>
          <a:xfrm>
            <a:off x="3401568" y="29718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60" name="Text 58"/>
          <p:cNvSpPr/>
          <p:nvPr/>
        </p:nvSpPr>
        <p:spPr>
          <a:xfrm>
            <a:off x="3584448" y="28346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986784" y="2834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291840" y="32918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63" name="Shape 61"/>
          <p:cNvSpPr/>
          <p:nvPr/>
        </p:nvSpPr>
        <p:spPr>
          <a:xfrm>
            <a:off x="3401568" y="34290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64" name="Text 62"/>
          <p:cNvSpPr/>
          <p:nvPr/>
        </p:nvSpPr>
        <p:spPr>
          <a:xfrm>
            <a:off x="3584448" y="3291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986784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291840" y="37490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67" name="Shape 65"/>
          <p:cNvSpPr/>
          <p:nvPr/>
        </p:nvSpPr>
        <p:spPr>
          <a:xfrm>
            <a:off x="3401568" y="38862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68" name="Text 66"/>
          <p:cNvSpPr/>
          <p:nvPr/>
        </p:nvSpPr>
        <p:spPr>
          <a:xfrm>
            <a:off x="3584448" y="3749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986784" y="3749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jBPM State Machine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291840" y="42062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71" name="Shape 69"/>
          <p:cNvSpPr/>
          <p:nvPr/>
        </p:nvSpPr>
        <p:spPr>
          <a:xfrm>
            <a:off x="3401568" y="43434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72" name="Text 70"/>
          <p:cNvSpPr/>
          <p:nvPr/>
        </p:nvSpPr>
        <p:spPr>
          <a:xfrm>
            <a:off x="3584448" y="4206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3986784" y="4206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(Caffeine)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291840" y="46634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75" name="Shape 73"/>
          <p:cNvSpPr/>
          <p:nvPr/>
        </p:nvSpPr>
        <p:spPr>
          <a:xfrm>
            <a:off x="3401568" y="48006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76" name="Text 74"/>
          <p:cNvSpPr/>
          <p:nvPr/>
        </p:nvSpPr>
        <p:spPr>
          <a:xfrm>
            <a:off x="3584448" y="4663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986784" y="4663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Versioning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236208" y="10058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79" name="Shape 77"/>
          <p:cNvSpPr/>
          <p:nvPr/>
        </p:nvSpPr>
        <p:spPr>
          <a:xfrm>
            <a:off x="6345936" y="11430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80" name="Text 78"/>
          <p:cNvSpPr/>
          <p:nvPr/>
        </p:nvSpPr>
        <p:spPr>
          <a:xfrm>
            <a:off x="6528816" y="1005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931152" y="1005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236208" y="14630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83" name="Shape 81"/>
          <p:cNvSpPr/>
          <p:nvPr/>
        </p:nvSpPr>
        <p:spPr>
          <a:xfrm>
            <a:off x="6345936" y="16002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84" name="Text 82"/>
          <p:cNvSpPr/>
          <p:nvPr/>
        </p:nvSpPr>
        <p:spPr>
          <a:xfrm>
            <a:off x="6528816" y="1463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931152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236208" y="19202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87" name="Shape 85"/>
          <p:cNvSpPr/>
          <p:nvPr/>
        </p:nvSpPr>
        <p:spPr>
          <a:xfrm>
            <a:off x="6345936" y="20574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88" name="Text 86"/>
          <p:cNvSpPr/>
          <p:nvPr/>
        </p:nvSpPr>
        <p:spPr>
          <a:xfrm>
            <a:off x="6528816" y="1920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6931152" y="1920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236208" y="23774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91" name="Shape 89"/>
          <p:cNvSpPr/>
          <p:nvPr/>
        </p:nvSpPr>
        <p:spPr>
          <a:xfrm>
            <a:off x="6345936" y="25146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92" name="Text 90"/>
          <p:cNvSpPr/>
          <p:nvPr/>
        </p:nvSpPr>
        <p:spPr>
          <a:xfrm>
            <a:off x="6528816" y="2377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6931152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236208" y="28346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95" name="Shape 93"/>
          <p:cNvSpPr/>
          <p:nvPr/>
        </p:nvSpPr>
        <p:spPr>
          <a:xfrm>
            <a:off x="6345936" y="29718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96" name="Text 94"/>
          <p:cNvSpPr/>
          <p:nvPr/>
        </p:nvSpPr>
        <p:spPr>
          <a:xfrm>
            <a:off x="6528816" y="28346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6931152" y="2834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6236208" y="32918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99" name="Shape 97"/>
          <p:cNvSpPr/>
          <p:nvPr/>
        </p:nvSpPr>
        <p:spPr>
          <a:xfrm>
            <a:off x="6345936" y="34290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100" name="Text 98"/>
          <p:cNvSpPr/>
          <p:nvPr/>
        </p:nvSpPr>
        <p:spPr>
          <a:xfrm>
            <a:off x="6528816" y="3291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6931152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Mimari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6236208" y="37490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345936" y="38862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104" name="Text 102"/>
          <p:cNvSpPr/>
          <p:nvPr/>
        </p:nvSpPr>
        <p:spPr>
          <a:xfrm>
            <a:off x="6528816" y="3749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6931152" y="3749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Dokümanı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6236208" y="42062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345936" y="43434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108" name="Text 106"/>
          <p:cNvSpPr/>
          <p:nvPr/>
        </p:nvSpPr>
        <p:spPr>
          <a:xfrm>
            <a:off x="6528816" y="4206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6931152" y="4206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Analiz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6236208" y="4663440"/>
            <a:ext cx="2788920" cy="402336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345936" y="4800600"/>
            <a:ext cx="128016" cy="128016"/>
          </a:xfrm>
          <a:prstGeom prst="ellipse">
            <a:avLst/>
          </a:prstGeom>
          <a:solidFill>
            <a:srgbClr val="2A7A4F"/>
          </a:solidFill>
          <a:ln/>
        </p:spPr>
      </p:sp>
      <p:sp>
        <p:nvSpPr>
          <p:cNvPr id="112" name="Text 110"/>
          <p:cNvSpPr/>
          <p:nvPr/>
        </p:nvSpPr>
        <p:spPr>
          <a:xfrm>
            <a:off x="6528816" y="4663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6931152" y="4663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(pptx)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347472" y="5102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Tüm 27 gereksinim tamamlandı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3" name="Text 1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&amp; IT Ticket İş Akışı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4279392" cy="4224528"/>
          </a:xfrm>
          <a:prstGeom prst="rect">
            <a:avLst/>
          </a:prstGeom>
          <a:solidFill>
            <a:srgbClr val="EBF4F8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786384"/>
            <a:ext cx="59436" cy="4224528"/>
          </a:xfrm>
          <a:prstGeom prst="rect">
            <a:avLst/>
          </a:prstGeom>
          <a:solidFill>
            <a:srgbClr val="E874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8595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8412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Mimarisi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2064" y="1261872"/>
            <a:ext cx="868680" cy="512064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12618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80744" y="1399032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499616" y="1261872"/>
            <a:ext cx="868680" cy="512064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12618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368296" y="1399032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487168" y="1261872"/>
            <a:ext cx="868680" cy="512064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6" name="Text 13"/>
          <p:cNvSpPr/>
          <p:nvPr/>
        </p:nvSpPr>
        <p:spPr>
          <a:xfrm>
            <a:off x="2487168" y="12618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55848" y="1399032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74720" y="1261872"/>
            <a:ext cx="868680" cy="512064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9" name="Text 16"/>
          <p:cNvSpPr/>
          <p:nvPr/>
        </p:nvSpPr>
        <p:spPr>
          <a:xfrm>
            <a:off x="3474720" y="12618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2064" y="1901952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" y="19019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@Profile(local)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029968" y="190195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anyRequest().permitAll() — H2, mock auth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12064" y="2276856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" y="22768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@Profile(docker)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029968" y="22768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 zorunlu — Keycloak issuer-uri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12064" y="2651760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" y="2651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endpoint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029968" y="26517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/api/v1/news  /api/v1/market  /api/v1/auth/**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12064" y="3026664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0" name="Text 27"/>
          <p:cNvSpPr/>
          <p:nvPr/>
        </p:nvSpPr>
        <p:spPr>
          <a:xfrm>
            <a:off x="512064" y="30266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029968" y="30266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SessionCreationPolicy.STATELESS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12064" y="3401568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3" name="Text 30"/>
          <p:cNvSpPr/>
          <p:nvPr/>
        </p:nvSpPr>
        <p:spPr>
          <a:xfrm>
            <a:off x="512064" y="34015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029968" y="34015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localhost:3000/5173/5174; credentials=true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12064" y="3776472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6" name="Text 33"/>
          <p:cNvSpPr/>
          <p:nvPr/>
        </p:nvSpPr>
        <p:spPr>
          <a:xfrm>
            <a:off x="512064" y="3776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realm_access.roles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029968" y="37764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 prefix; JwtGrantedAuthoritiesConverter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12064" y="4151376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9" name="Text 36"/>
          <p:cNvSpPr/>
          <p:nvPr/>
        </p:nvSpPr>
        <p:spPr>
          <a:xfrm>
            <a:off x="512064" y="41513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2FA Setup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029968" y="415137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/api/v1/auth/2fa/setup → QR kod URI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12064" y="4526280"/>
            <a:ext cx="1463040" cy="310896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42" name="Text 39"/>
          <p:cNvSpPr/>
          <p:nvPr/>
        </p:nvSpPr>
        <p:spPr>
          <a:xfrm>
            <a:off x="512064" y="4526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2FA Verify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029968" y="45262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/api/v1/auth/2fa/verify → {secret, code}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09744" y="786384"/>
            <a:ext cx="4005072" cy="4224528"/>
          </a:xfrm>
          <a:prstGeom prst="rect">
            <a:avLst/>
          </a:prstGeom>
          <a:solidFill>
            <a:srgbClr val="EBF4F8"/>
          </a:solidFill>
          <a:ln/>
        </p:spPr>
      </p:sp>
      <p:sp>
        <p:nvSpPr>
          <p:cNvPr id="45" name="Shape 42"/>
          <p:cNvSpPr/>
          <p:nvPr/>
        </p:nvSpPr>
        <p:spPr>
          <a:xfrm>
            <a:off x="4809744" y="786384"/>
            <a:ext cx="59436" cy="4224528"/>
          </a:xfrm>
          <a:prstGeom prst="rect">
            <a:avLst/>
          </a:prstGeom>
          <a:solidFill>
            <a:srgbClr val="0E3D52"/>
          </a:solidFill>
          <a:ln/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859536"/>
            <a:ext cx="310896" cy="310896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5394960" y="8412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Ticket — Spring State Machine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4919472" y="1298448"/>
            <a:ext cx="749808" cy="457200"/>
          </a:xfrm>
          <a:prstGeom prst="rect">
            <a:avLst/>
          </a:prstGeom>
          <a:solidFill>
            <a:srgbClr val="1A6BAD"/>
          </a:solidFill>
          <a:ln/>
        </p:spPr>
      </p:sp>
      <p:sp>
        <p:nvSpPr>
          <p:cNvPr id="49" name="Text 45"/>
          <p:cNvSpPr/>
          <p:nvPr/>
        </p:nvSpPr>
        <p:spPr>
          <a:xfrm>
            <a:off x="4919472" y="12984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5669280" y="1426464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5760720" y="1298448"/>
            <a:ext cx="74980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52" name="Text 48"/>
          <p:cNvSpPr/>
          <p:nvPr/>
        </p:nvSpPr>
        <p:spPr>
          <a:xfrm>
            <a:off x="5760720" y="12984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6510528" y="1426464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6638544" y="1298448"/>
            <a:ext cx="749808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5" name="Text 51"/>
          <p:cNvSpPr/>
          <p:nvPr/>
        </p:nvSpPr>
        <p:spPr>
          <a:xfrm>
            <a:off x="6638544" y="12984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7388352" y="1426464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7479792" y="1298448"/>
            <a:ext cx="749808" cy="457200"/>
          </a:xfrm>
          <a:prstGeom prst="rect">
            <a:avLst/>
          </a:prstGeom>
          <a:solidFill>
            <a:srgbClr val="2A7A4F"/>
          </a:solidFill>
          <a:ln/>
        </p:spPr>
      </p:sp>
      <p:sp>
        <p:nvSpPr>
          <p:cNvPr id="58" name="Text 54"/>
          <p:cNvSpPr/>
          <p:nvPr/>
        </p:nvSpPr>
        <p:spPr>
          <a:xfrm>
            <a:off x="7479792" y="12984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sz="700" dirty="0"/>
          </a:p>
        </p:txBody>
      </p:sp>
      <p:sp>
        <p:nvSpPr>
          <p:cNvPr id="59" name="Shape 55"/>
          <p:cNvSpPr/>
          <p:nvPr/>
        </p:nvSpPr>
        <p:spPr>
          <a:xfrm>
            <a:off x="6345936" y="1883664"/>
            <a:ext cx="804672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0" name="Text 56"/>
          <p:cNvSpPr/>
          <p:nvPr/>
        </p:nvSpPr>
        <p:spPr>
          <a:xfrm>
            <a:off x="6345936" y="1883664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5120640" y="1810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 ↙  ↙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4919472" y="2414016"/>
            <a:ext cx="749808" cy="420624"/>
          </a:xfrm>
          <a:prstGeom prst="rect">
            <a:avLst/>
          </a:prstGeom>
          <a:solidFill>
            <a:srgbClr val="4A6070"/>
          </a:solidFill>
          <a:ln/>
        </p:spPr>
      </p:sp>
      <p:sp>
        <p:nvSpPr>
          <p:cNvPr id="63" name="Text 59"/>
          <p:cNvSpPr/>
          <p:nvPr/>
        </p:nvSpPr>
        <p:spPr>
          <a:xfrm>
            <a:off x="4919472" y="2414016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5248656" y="217627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65" name="Shape 61"/>
          <p:cNvSpPr/>
          <p:nvPr/>
        </p:nvSpPr>
        <p:spPr>
          <a:xfrm>
            <a:off x="4809744" y="2962656"/>
            <a:ext cx="4005072" cy="27432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66" name="Text 62"/>
          <p:cNvSpPr/>
          <p:nvPr/>
        </p:nvSpPr>
        <p:spPr>
          <a:xfrm>
            <a:off x="4901184" y="296265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GEÇİŞ KURALLARI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4809744" y="3273552"/>
            <a:ext cx="400507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4"/>
          <p:cNvSpPr/>
          <p:nvPr/>
        </p:nvSpPr>
        <p:spPr>
          <a:xfrm>
            <a:off x="4882896" y="3273552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→ ASSIGNED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6894576" y="3273552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assignedTo alanı zorunlu</a:t>
            </a:r>
            <a:endParaRPr lang="en-US" sz="850" dirty="0"/>
          </a:p>
        </p:txBody>
      </p:sp>
      <p:sp>
        <p:nvSpPr>
          <p:cNvPr id="70" name="Shape 66"/>
          <p:cNvSpPr/>
          <p:nvPr/>
        </p:nvSpPr>
        <p:spPr>
          <a:xfrm>
            <a:off x="4809744" y="3611880"/>
            <a:ext cx="4005072" cy="301752"/>
          </a:xfrm>
          <a:prstGeom prst="rect">
            <a:avLst/>
          </a:prstGeom>
          <a:solidFill>
            <a:srgbClr val="EBF4F8"/>
          </a:solidFill>
          <a:ln/>
        </p:spPr>
      </p:sp>
      <p:sp>
        <p:nvSpPr>
          <p:cNvPr id="71" name="Text 67"/>
          <p:cNvSpPr/>
          <p:nvPr/>
        </p:nvSpPr>
        <p:spPr>
          <a:xfrm>
            <a:off x="4882896" y="3611880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 → IN_PROGRESS</a:t>
            </a:r>
            <a:endParaRPr lang="en-US" sz="850" dirty="0"/>
          </a:p>
        </p:txBody>
      </p:sp>
      <p:sp>
        <p:nvSpPr>
          <p:cNvPr id="72" name="Text 68"/>
          <p:cNvSpPr/>
          <p:nvPr/>
        </p:nvSpPr>
        <p:spPr>
          <a:xfrm>
            <a:off x="6894576" y="3611880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Uzman çalışmaya başlar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4809744" y="3950208"/>
            <a:ext cx="400507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0"/>
          <p:cNvSpPr/>
          <p:nvPr/>
        </p:nvSpPr>
        <p:spPr>
          <a:xfrm>
            <a:off x="4882896" y="3950208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 → RESOLVED</a:t>
            </a:r>
            <a:endParaRPr lang="en-US" sz="850" dirty="0"/>
          </a:p>
        </p:txBody>
      </p:sp>
      <p:sp>
        <p:nvSpPr>
          <p:cNvPr id="75" name="Text 71"/>
          <p:cNvSpPr/>
          <p:nvPr/>
        </p:nvSpPr>
        <p:spPr>
          <a:xfrm>
            <a:off x="6894576" y="3950208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açıklaması eklenir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809744" y="4288536"/>
            <a:ext cx="4005072" cy="301752"/>
          </a:xfrm>
          <a:prstGeom prst="rect">
            <a:avLst/>
          </a:prstGeom>
          <a:solidFill>
            <a:srgbClr val="EBF4F8"/>
          </a:solidFill>
          <a:ln/>
        </p:spPr>
      </p:sp>
      <p:sp>
        <p:nvSpPr>
          <p:cNvPr id="77" name="Text 73"/>
          <p:cNvSpPr/>
          <p:nvPr/>
        </p:nvSpPr>
        <p:spPr>
          <a:xfrm>
            <a:off x="4882896" y="4288536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 → CLOSED</a:t>
            </a:r>
            <a:endParaRPr lang="en-US" sz="850" dirty="0"/>
          </a:p>
        </p:txBody>
      </p:sp>
      <p:sp>
        <p:nvSpPr>
          <p:cNvPr id="78" name="Text 74"/>
          <p:cNvSpPr/>
          <p:nvPr/>
        </p:nvSpPr>
        <p:spPr>
          <a:xfrm>
            <a:off x="6894576" y="4288536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onayı alınır</a:t>
            </a:r>
            <a:endParaRPr lang="en-US" sz="850" dirty="0"/>
          </a:p>
        </p:txBody>
      </p:sp>
      <p:sp>
        <p:nvSpPr>
          <p:cNvPr id="79" name="Shape 75"/>
          <p:cNvSpPr/>
          <p:nvPr/>
        </p:nvSpPr>
        <p:spPr>
          <a:xfrm>
            <a:off x="4809744" y="4626864"/>
            <a:ext cx="400507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6"/>
          <p:cNvSpPr/>
          <p:nvPr/>
        </p:nvSpPr>
        <p:spPr>
          <a:xfrm>
            <a:off x="4882896" y="4626864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→ REJECTED</a:t>
            </a:r>
            <a:endParaRPr lang="en-US" sz="850" dirty="0"/>
          </a:p>
        </p:txBody>
      </p:sp>
      <p:sp>
        <p:nvSpPr>
          <p:cNvPr id="81" name="Text 77"/>
          <p:cNvSpPr/>
          <p:nvPr/>
        </p:nvSpPr>
        <p:spPr>
          <a:xfrm>
            <a:off x="6894576" y="462686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aşamadan; ret nedeni zorunlu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3" name="Text 1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Log Pipeline &amp; Gözlemlenebilirlik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1572768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22960"/>
            <a:ext cx="1572768" cy="54864"/>
          </a:xfrm>
          <a:prstGeom prst="rect">
            <a:avLst/>
          </a:prstGeom>
          <a:solidFill>
            <a:srgbClr val="0E3D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692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408176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02336" y="1883664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Kafka:29092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920240" y="17373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084832" y="822960"/>
            <a:ext cx="1572768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84832" y="822960"/>
            <a:ext cx="1572768" cy="54864"/>
          </a:xfrm>
          <a:prstGeom prst="rect">
            <a:avLst/>
          </a:prstGeom>
          <a:solidFill>
            <a:srgbClr val="1A547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96926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21408" y="1408176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finance-logs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139696" y="1883664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cp-kafka:7.6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657600" y="17373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822192" y="822960"/>
            <a:ext cx="1572768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22192" y="822960"/>
            <a:ext cx="1572768" cy="54864"/>
          </a:xfrm>
          <a:prstGeom prst="rect">
            <a:avLst/>
          </a:prstGeom>
          <a:solidFill>
            <a:srgbClr val="E8742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96926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58768" y="1408176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LogConsumer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.java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877056" y="1883664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@KafkaListener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@Payload msg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@Header OFFSET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394960" y="17373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559552" y="822960"/>
            <a:ext cx="1572768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59552" y="822960"/>
            <a:ext cx="1572768" cy="54864"/>
          </a:xfrm>
          <a:prstGeom prst="rect">
            <a:avLst/>
          </a:prstGeom>
          <a:solidFill>
            <a:srgbClr val="1A6BA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96926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96128" y="1408176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:9200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614416" y="1883664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_doc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@timestamp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finance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132320" y="17373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296912" y="822960"/>
            <a:ext cx="1572768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96912" y="822960"/>
            <a:ext cx="1572768" cy="54864"/>
          </a:xfrm>
          <a:prstGeom prst="rect">
            <a:avLst/>
          </a:prstGeom>
          <a:solidFill>
            <a:srgbClr val="2A7A4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969264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33488" y="1408176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:5601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351776" y="1883664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finance-logs*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347472" y="2871216"/>
            <a:ext cx="2798064" cy="21579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47472" y="2871216"/>
            <a:ext cx="59436" cy="2157984"/>
          </a:xfrm>
          <a:prstGeom prst="rect">
            <a:avLst/>
          </a:prstGeom>
          <a:solidFill>
            <a:srgbClr val="1A547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299923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77824" y="2926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Collector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75488" y="33101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otel-collector-contrib:0.96.0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75488" y="3730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gRPC :4317  ·  HTTP :4318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475488" y="415137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otel-collector-config.yml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75488" y="45720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Traces + Metrics + Logs pipeline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3291840" y="2871216"/>
            <a:ext cx="2798064" cy="21579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3291840" y="2871216"/>
            <a:ext cx="59436" cy="2157984"/>
          </a:xfrm>
          <a:prstGeom prst="rect">
            <a:avLst/>
          </a:prstGeom>
          <a:solidFill>
            <a:srgbClr val="E8742A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2999232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822192" y="2926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3419856" y="33101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prom/prometheus:v2.51.0  —  :9090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3419856" y="3730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scrape: /actuator/prometheus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3419856" y="415137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4701 (JVM Micrometer)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3419856" y="45720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Grafana :3001  (admin/admin)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6236208" y="2871216"/>
            <a:ext cx="2798064" cy="21579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6236208" y="2871216"/>
            <a:ext cx="59436" cy="2157984"/>
          </a:xfrm>
          <a:prstGeom prst="rect">
            <a:avLst/>
          </a:prstGeom>
          <a:solidFill>
            <a:srgbClr val="0E3D52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999232"/>
            <a:ext cx="274320" cy="27432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6766560" y="2926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Endpoints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6364224" y="33101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/actuator/health — DB+Kafka+OS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6364224" y="3730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/actuator/prometheus — Prom scrape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6364224" y="415137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/actuator/caches — Caffeine stats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6364224" y="45720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/actuator/metrics — JVM, HTTP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3" name="Text 1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Projeden Öğrendiklerim &amp; Zorluklar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(b)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69264"/>
            <a:ext cx="8449056" cy="1243584"/>
          </a:xfrm>
          <a:prstGeom prst="rect">
            <a:avLst/>
          </a:prstGeom>
          <a:solidFill>
            <a:srgbClr val="EB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9264"/>
            <a:ext cx="59436" cy="1243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380744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80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38988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81328" y="1060704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Docker'ı İlk Kez Kullandım — ve Projeyi Sildim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8132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Docker'ı hiç kullanmamıştım. Konteyner, image, volume kavramlarını öğrenirken disk alanım doldu. Yanlışlıkla çalışma dizinini silerek iki aylık emeğimi kaybettim. Bir süre yeniden başlamaya cesaret edemedim; neyi, nasıl getireceğimi bilmiyordum.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54496" y="1097280"/>
            <a:ext cx="566928" cy="219456"/>
          </a:xfrm>
          <a:prstGeom prst="rect">
            <a:avLst/>
          </a:prstGeom>
          <a:solidFill>
            <a:srgbClr val="2A7A4F"/>
          </a:solidFill>
          <a:ln/>
        </p:spPr>
      </p:sp>
      <p:sp>
        <p:nvSpPr>
          <p:cNvPr id="14" name="Text 11"/>
          <p:cNvSpPr/>
          <p:nvPr/>
        </p:nvSpPr>
        <p:spPr>
          <a:xfrm>
            <a:off x="6254496" y="10972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76288" y="1060704"/>
            <a:ext cx="1847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Git'teki son commit'ten clone ile geri getirdim. Düzenli commit yapmanın ve .gitignore'un kritik olduğunu öğrendim.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7472" y="2359152"/>
            <a:ext cx="8449056" cy="1243584"/>
          </a:xfrm>
          <a:prstGeom prst="rect">
            <a:avLst/>
          </a:prstGeom>
          <a:solidFill>
            <a:srgbClr val="EB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2359152"/>
            <a:ext cx="59436" cy="1243584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18" name="Shape 15"/>
          <p:cNvSpPr/>
          <p:nvPr/>
        </p:nvSpPr>
        <p:spPr>
          <a:xfrm>
            <a:off x="530352" y="2770632"/>
            <a:ext cx="402336" cy="402336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77977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81328" y="2450592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Versioning &amp; Swagger Entegrasyonu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481328" y="27614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 versiyonlama standardını ve Swagger UI'ı projeme nasıl ekleyeceğimi bilmiyordum. @RequestMapping prefix'leri, springdoc-openapi bağımlılığı, @Tag / @Operation annotasyonları tamamen yeni kavramlardı.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254496" y="2487168"/>
            <a:ext cx="566928" cy="219456"/>
          </a:xfrm>
          <a:prstGeom prst="rect">
            <a:avLst/>
          </a:prstGeom>
          <a:solidFill>
            <a:srgbClr val="2A7A4F"/>
          </a:solidFill>
          <a:ln/>
        </p:spPr>
      </p:sp>
      <p:sp>
        <p:nvSpPr>
          <p:cNvPr id="24" name="Text 20"/>
          <p:cNvSpPr/>
          <p:nvPr/>
        </p:nvSpPr>
        <p:spPr>
          <a:xfrm>
            <a:off x="6254496" y="2487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876288" y="2450592"/>
            <a:ext cx="1847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springdoc-openapi-starter-webmvc-ui 2.3.0 pom.xml'e eklendi. Controller'lara /api/v1/ prefix + @Tag, @Operation annotasyonları. Swagger UI: http://localhost:8081/swagger-ui.html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47472" y="3749040"/>
            <a:ext cx="8449056" cy="1243584"/>
          </a:xfrm>
          <a:prstGeom prst="rect">
            <a:avLst/>
          </a:prstGeom>
          <a:solidFill>
            <a:srgbClr val="EB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47472" y="3749040"/>
            <a:ext cx="59436" cy="1243584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28" name="Shape 24"/>
          <p:cNvSpPr/>
          <p:nvPr/>
        </p:nvSpPr>
        <p:spPr>
          <a:xfrm>
            <a:off x="530352" y="4160520"/>
            <a:ext cx="402336" cy="402336"/>
          </a:xfrm>
          <a:prstGeom prst="ellipse">
            <a:avLst/>
          </a:prstGeom>
          <a:solidFill>
            <a:srgbClr val="0E3D52"/>
          </a:solidFill>
          <a:ln/>
        </p:spPr>
      </p:sp>
      <p:sp>
        <p:nvSpPr>
          <p:cNvPr id="29" name="Text 25"/>
          <p:cNvSpPr/>
          <p:nvPr/>
        </p:nvSpPr>
        <p:spPr>
          <a:xfrm>
            <a:off x="530352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169664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481328" y="3840480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Teknik Zorluklar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481328" y="415137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+ Docker ağ sıralaması (depends_on healthcheck), Log4j2 KafkaAppender konfigürasyonu (starter-logging exclusion), Spring State Machine guard/action kavramları, 2FA QR kod URI'ının frontend'de render edilmesi.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254496" y="3877056"/>
            <a:ext cx="566928" cy="219456"/>
          </a:xfrm>
          <a:prstGeom prst="rect">
            <a:avLst/>
          </a:prstGeom>
          <a:solidFill>
            <a:srgbClr val="2A7A4F"/>
          </a:solidFill>
          <a:ln/>
        </p:spPr>
      </p:sp>
      <p:sp>
        <p:nvSpPr>
          <p:cNvPr id="34" name="Text 29"/>
          <p:cNvSpPr/>
          <p:nvPr/>
        </p:nvSpPr>
        <p:spPr>
          <a:xfrm>
            <a:off x="6254496" y="38770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876288" y="3840480"/>
            <a:ext cx="1847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sorunu dokümantasyon ve kaynak kod inceleyerek çözdüm. postgres:healthy → keycloak → kafka başlatma sırası ile servis sorunları giderildi.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3" name="Text 1"/>
          <p:cNvSpPr/>
          <p:nvPr/>
        </p:nvSpPr>
        <p:spPr>
          <a:xfrm>
            <a:off x="7845552" y="182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Eksikler Tamamlandı — 27 / 27  ✓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(d)  —  Sunumda belirtilen tüm eksikler giderildi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8449056" cy="713232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024128"/>
            <a:ext cx="59436" cy="713232"/>
          </a:xfrm>
          <a:prstGeom prst="rect">
            <a:avLst/>
          </a:prstGeom>
          <a:solidFill>
            <a:srgbClr val="2A7A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435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0972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Kapsamı — TAMAMLANDI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32688" y="13716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LoanServiceTest, NewsServiceTest, AccountControllerTest, Spring Security Test ve Spring Kafka Test sınıfları yazıldı. @ExtendWith(MockitoExtension), @WithMockUser ve EmbeddedKafka ile kapsamlı test paketi oluşturuldu.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7472" y="1847088"/>
            <a:ext cx="8449056" cy="713232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2" name="Shape 9"/>
          <p:cNvSpPr/>
          <p:nvPr/>
        </p:nvSpPr>
        <p:spPr>
          <a:xfrm>
            <a:off x="347472" y="1847088"/>
            <a:ext cx="59436" cy="713232"/>
          </a:xfrm>
          <a:prstGeom prst="rect">
            <a:avLst/>
          </a:prstGeom>
          <a:solidFill>
            <a:srgbClr val="2A7A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6654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2688" y="1920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Trafiği — TAMAMLANDI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32688" y="21945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bazlı düzenli commit geçmişi oluşturuldu. Her gereksinim için ayrı atomic commit işlendi. Düzenli commit trafiği artık GitHub reposunda görülebilir.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47472" y="2670048"/>
            <a:ext cx="8449056" cy="713232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17" name="Shape 13"/>
          <p:cNvSpPr/>
          <p:nvPr/>
        </p:nvSpPr>
        <p:spPr>
          <a:xfrm>
            <a:off x="347472" y="2670048"/>
            <a:ext cx="59436" cy="713232"/>
          </a:xfrm>
          <a:prstGeom prst="rect">
            <a:avLst/>
          </a:prstGeom>
          <a:solidFill>
            <a:srgbClr val="2A7A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895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27432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Versioning &amp; Swagger — TAMAMLANDI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932688" y="30175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endpoint'ler /api/v1/ prefix ile versiyonlandı. springdoc-openapi-starter-webmvc-ui 2.3.0 eklendi. @Tag, @Operation annotasyonları ile Swagger UI http://localhost:8081/swagger-ui.html üzerinden erişilebilir.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47472" y="3493008"/>
            <a:ext cx="8449056" cy="713232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22" name="Shape 17"/>
          <p:cNvSpPr/>
          <p:nvPr/>
        </p:nvSpPr>
        <p:spPr>
          <a:xfrm>
            <a:off x="347472" y="3493008"/>
            <a:ext cx="59436" cy="713232"/>
          </a:xfrm>
          <a:prstGeom prst="rect">
            <a:avLst/>
          </a:prstGeom>
          <a:solidFill>
            <a:srgbClr val="2A7A4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71246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" y="3566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jBPM State Machine — TAMAMLANDI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32688" y="3840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State Machine 4.0.0 ile IT ticket iş akışı tam uygulandı: OPEN → ASSIGNED → IN_PROGRESS → RESOLVED → CLOSED. 5 durum, 8 geçiş kuralı çalışır durumda.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47472" y="4315968"/>
            <a:ext cx="8449056" cy="713232"/>
          </a:xfrm>
          <a:prstGeom prst="rect">
            <a:avLst/>
          </a:prstGeom>
          <a:solidFill>
            <a:srgbClr val="1A5470"/>
          </a:solidFill>
          <a:ln/>
        </p:spPr>
      </p:sp>
      <p:sp>
        <p:nvSpPr>
          <p:cNvPr id="27" name="Shape 21"/>
          <p:cNvSpPr/>
          <p:nvPr/>
        </p:nvSpPr>
        <p:spPr>
          <a:xfrm>
            <a:off x="347472" y="4315968"/>
            <a:ext cx="59436" cy="713232"/>
          </a:xfrm>
          <a:prstGeom prst="rect">
            <a:avLst/>
          </a:prstGeom>
          <a:solidFill>
            <a:srgbClr val="2A7A4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53542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32688" y="4389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Tüm Altyapı — TAMAMLANDI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932688" y="46634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servis Docker Compose ile orchestrate edildi. Multi-stage Dockerfile, non-root kullanıcı ve healthcheck zinciri eksiksiz tamamlandı.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64008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4297680" cy="64008"/>
          </a:xfrm>
          <a:prstGeom prst="rect">
            <a:avLst/>
          </a:prstGeom>
          <a:solidFill>
            <a:srgbClr val="E874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1316736" y="502920"/>
            <a:ext cx="1664208" cy="1664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2304288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Özet &amp;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84048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9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 KOÇAK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Sistemleri Mühendisliği · 3. Sınıf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4048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github.com/zzeynepkocak/FinanceWebSite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63440" y="274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27/27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66344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Gereksinim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39712" y="274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839712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Modülü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63440" y="13350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466344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Servisi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39712" y="13350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839712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Madde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26864" y="2578608"/>
            <a:ext cx="365760" cy="36576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19" name="Text 16"/>
          <p:cNvSpPr/>
          <p:nvPr/>
        </p:nvSpPr>
        <p:spPr>
          <a:xfrm>
            <a:off x="4626864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84064" y="2560320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27 gereksinim kurumsal pratiklerle uygulandı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26864" y="3054096"/>
            <a:ext cx="365760" cy="36576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22" name="Text 19"/>
          <p:cNvSpPr/>
          <p:nvPr/>
        </p:nvSpPr>
        <p:spPr>
          <a:xfrm>
            <a:off x="4626864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84064" y="3035808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deneyimi (disk doluluğu krizi dahil) gerçek dersti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26864" y="3529584"/>
            <a:ext cx="365760" cy="36576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25" name="Text 22"/>
          <p:cNvSpPr/>
          <p:nvPr/>
        </p:nvSpPr>
        <p:spPr>
          <a:xfrm>
            <a:off x="4626864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84064" y="3511296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ve REST versioning öğrenilerek eklendi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26864" y="4005072"/>
            <a:ext cx="365760" cy="36576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28" name="Text 25"/>
          <p:cNvSpPr/>
          <p:nvPr/>
        </p:nvSpPr>
        <p:spPr>
          <a:xfrm>
            <a:off x="4626864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84064" y="3986784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eksikler giderildi — 27/27 eksiksiz tamamlandı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26864" y="4480560"/>
            <a:ext cx="365760" cy="36576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31" name="Text 28"/>
          <p:cNvSpPr/>
          <p:nvPr/>
        </p:nvSpPr>
        <p:spPr>
          <a:xfrm>
            <a:off x="4626864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084064" y="4462272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Proje: distributed systems ve cloud-native kazandırdı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626864" y="49011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&amp; 32Bit  ·  7 Haziran 2026  ·  Staj Projesi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2026-06-07T14:11:06Z</dcterms:created>
  <dcterms:modified xsi:type="dcterms:W3CDTF">2026-06-07T14:11:06Z</dcterms:modified>
</cp:coreProperties>
</file>